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777239" y="1051560"/>
            <a:ext cx="5407669" cy="921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600">
                <a:solidFill>
                  <a:srgbClr val="F0F2F7"/>
                </a:solidFill>
              </a:defRPr>
            </a:pPr>
            <a:r>
              <a:t> Social Movie Platform</a:t>
            </a:r>
          </a:p>
          <a:p>
            <a:pPr>
              <a:defRPr sz="2100">
                <a:solidFill>
                  <a:srgbClr val="4AC4FF"/>
                </a:solidFill>
              </a:defRPr>
            </a:pPr>
            <a:r>
              <a:t>Website/App Structure • Technology Stack • APIs</a:t>
            </a:r>
          </a:p>
        </p:txBody>
      </p:sp>
      <p:sp>
        <p:nvSpPr>
          <p:cNvPr id="95" name="Rounded Rectangle 2"/>
          <p:cNvSpPr/>
          <p:nvPr/>
        </p:nvSpPr>
        <p:spPr>
          <a:xfrm>
            <a:off x="777240" y="2971800"/>
            <a:ext cx="10607041" cy="960120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005839" y="3108960"/>
            <a:ext cx="5320592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Core Experience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Discover → Track → Rate → Review → Discuss → Get Recommendations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 txBox="1"/>
          <p:nvPr/>
        </p:nvSpPr>
        <p:spPr>
          <a:xfrm>
            <a:off x="62219" y="307048"/>
            <a:ext cx="415208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1. What Are We Building?</a:t>
            </a:r>
          </a:p>
        </p:txBody>
      </p:sp>
      <p:sp>
        <p:nvSpPr>
          <p:cNvPr id="100" name="TextBox 2"/>
          <p:cNvSpPr txBox="1"/>
          <p:nvPr/>
        </p:nvSpPr>
        <p:spPr>
          <a:xfrm>
            <a:off x="171150" y="1378346"/>
            <a:ext cx="11837000" cy="1625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100"/>
              </a:spcBef>
              <a:defRPr sz="1900">
                <a:solidFill>
                  <a:srgbClr val="F0F2F7"/>
                </a:solidFill>
              </a:defRPr>
            </a:pPr>
            <a:r>
              <a:t>An all-in-one platform for movie discovery, reviews, watchlists, collections and community discussions.</a:t>
            </a:r>
          </a:p>
          <a:p>
            <a:pPr>
              <a:spcBef>
                <a:spcPts val="1100"/>
              </a:spcBef>
              <a:defRPr sz="1900">
                <a:solidFill>
                  <a:srgbClr val="F0F2F7"/>
                </a:solidFill>
              </a:defRPr>
            </a:pPr>
            <a:r>
              <a:t>Users give an overall 1–10 rating and can optionally rate story, acting, cinematography, direction, pacing, music and VFX.</a:t>
            </a:r>
          </a:p>
          <a:p>
            <a:pPr>
              <a:spcBef>
                <a:spcPts val="1100"/>
              </a:spcBef>
              <a:defRPr sz="1900">
                <a:solidFill>
                  <a:srgbClr val="F0F2F7"/>
                </a:solidFill>
              </a:defRPr>
            </a:pPr>
            <a:r>
              <a:t>Social features include profiles, likes, comments, follows and movie-related discussions.</a:t>
            </a:r>
          </a:p>
          <a:p>
            <a:pPr>
              <a:spcBef>
                <a:spcPts val="1100"/>
              </a:spcBef>
              <a:defRPr sz="1900">
                <a:solidFill>
                  <a:srgbClr val="F0F2F7"/>
                </a:solidFill>
              </a:defRPr>
            </a:pPr>
            <a:r>
              <a:t>Recommendations initially use simple rule-based logic; ML can be added later.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685800" y="320040"/>
            <a:ext cx="5523531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2. Overall Website / App Structure</a:t>
            </a:r>
          </a:p>
        </p:txBody>
      </p:sp>
      <p:sp>
        <p:nvSpPr>
          <p:cNvPr id="104" name="Rounded Rectangle 2"/>
          <p:cNvSpPr/>
          <p:nvPr/>
        </p:nvSpPr>
        <p:spPr>
          <a:xfrm>
            <a:off x="594359" y="1371600"/>
            <a:ext cx="3520442" cy="1737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3"/>
          <p:cNvSpPr txBox="1"/>
          <p:nvPr/>
        </p:nvSpPr>
        <p:spPr>
          <a:xfrm>
            <a:off x="822959" y="1508760"/>
            <a:ext cx="2240433" cy="85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DISCOVER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Home • Trending • Upcoming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Search &amp; filters</a:t>
            </a:r>
          </a:p>
        </p:txBody>
      </p:sp>
      <p:sp>
        <p:nvSpPr>
          <p:cNvPr id="106" name="Rounded Rectangle 4"/>
          <p:cNvSpPr/>
          <p:nvPr/>
        </p:nvSpPr>
        <p:spPr>
          <a:xfrm>
            <a:off x="4480559" y="1371600"/>
            <a:ext cx="3520441" cy="1737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5"/>
          <p:cNvSpPr txBox="1"/>
          <p:nvPr/>
        </p:nvSpPr>
        <p:spPr>
          <a:xfrm>
            <a:off x="4709160" y="1508760"/>
            <a:ext cx="2252760" cy="85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MOVIE PAGES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Metadata • Cast • Ratings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Reviews • Related discussions</a:t>
            </a:r>
          </a:p>
        </p:txBody>
      </p:sp>
      <p:sp>
        <p:nvSpPr>
          <p:cNvPr id="108" name="Rounded Rectangle 6"/>
          <p:cNvSpPr/>
          <p:nvPr/>
        </p:nvSpPr>
        <p:spPr>
          <a:xfrm>
            <a:off x="8366759" y="1371600"/>
            <a:ext cx="3520441" cy="1737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7"/>
          <p:cNvSpPr txBox="1"/>
          <p:nvPr/>
        </p:nvSpPr>
        <p:spPr>
          <a:xfrm>
            <a:off x="8595359" y="1508760"/>
            <a:ext cx="1586705" cy="85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PERSONAL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Watchlist • Watched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Custom collections</a:t>
            </a:r>
          </a:p>
        </p:txBody>
      </p:sp>
      <p:sp>
        <p:nvSpPr>
          <p:cNvPr id="110" name="Rounded Rectangle 8"/>
          <p:cNvSpPr/>
          <p:nvPr/>
        </p:nvSpPr>
        <p:spPr>
          <a:xfrm>
            <a:off x="594359" y="3703320"/>
            <a:ext cx="3520442" cy="1737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9"/>
          <p:cNvSpPr txBox="1"/>
          <p:nvPr/>
        </p:nvSpPr>
        <p:spPr>
          <a:xfrm>
            <a:off x="822959" y="3840479"/>
            <a:ext cx="1403696" cy="85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SOCIAL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Profiles • Follows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Likes • Comments</a:t>
            </a:r>
          </a:p>
        </p:txBody>
      </p:sp>
      <p:sp>
        <p:nvSpPr>
          <p:cNvPr id="112" name="Rounded Rectangle 10"/>
          <p:cNvSpPr/>
          <p:nvPr/>
        </p:nvSpPr>
        <p:spPr>
          <a:xfrm>
            <a:off x="4480559" y="3703320"/>
            <a:ext cx="3520441" cy="1737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11"/>
          <p:cNvSpPr txBox="1"/>
          <p:nvPr/>
        </p:nvSpPr>
        <p:spPr>
          <a:xfrm>
            <a:off x="4709160" y="3840479"/>
            <a:ext cx="1766849" cy="85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COMMUNITY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Create discussions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Trending conversations</a:t>
            </a:r>
          </a:p>
        </p:txBody>
      </p:sp>
      <p:sp>
        <p:nvSpPr>
          <p:cNvPr id="114" name="Rounded Rectangle 12"/>
          <p:cNvSpPr/>
          <p:nvPr/>
        </p:nvSpPr>
        <p:spPr>
          <a:xfrm>
            <a:off x="8366759" y="3703320"/>
            <a:ext cx="3520441" cy="1737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3"/>
          <p:cNvSpPr txBox="1"/>
          <p:nvPr/>
        </p:nvSpPr>
        <p:spPr>
          <a:xfrm>
            <a:off x="8595359" y="3840479"/>
            <a:ext cx="1990141" cy="85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RECOMMEND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Genre + ratings + history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Future ML personalization</a:t>
            </a:r>
          </a:p>
        </p:txBody>
      </p:sp>
      <p:sp>
        <p:nvSpPr>
          <p:cNvPr id="116" name="TextBox 14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 txBox="1"/>
          <p:nvPr/>
        </p:nvSpPr>
        <p:spPr>
          <a:xfrm>
            <a:off x="685800" y="320040"/>
            <a:ext cx="565636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3. Recommended Technology Stack</a:t>
            </a:r>
          </a:p>
        </p:txBody>
      </p:sp>
      <p:sp>
        <p:nvSpPr>
          <p:cNvPr id="119" name="Rounded Rectangle 2"/>
          <p:cNvSpPr/>
          <p:nvPr/>
        </p:nvSpPr>
        <p:spPr>
          <a:xfrm>
            <a:off x="640080" y="1280160"/>
            <a:ext cx="3474721" cy="15087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3"/>
          <p:cNvSpPr txBox="1"/>
          <p:nvPr/>
        </p:nvSpPr>
        <p:spPr>
          <a:xfrm>
            <a:off x="868678" y="1417319"/>
            <a:ext cx="1169466" cy="852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Next.js + React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Tailwind CSS</a:t>
            </a:r>
          </a:p>
        </p:txBody>
      </p:sp>
      <p:sp>
        <p:nvSpPr>
          <p:cNvPr id="121" name="Rounded Rectangle 4"/>
          <p:cNvSpPr/>
          <p:nvPr/>
        </p:nvSpPr>
        <p:spPr>
          <a:xfrm>
            <a:off x="4343400" y="1280160"/>
            <a:ext cx="3474721" cy="15087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5"/>
          <p:cNvSpPr txBox="1"/>
          <p:nvPr/>
        </p:nvSpPr>
        <p:spPr>
          <a:xfrm>
            <a:off x="4572000" y="1417319"/>
            <a:ext cx="2387412" cy="852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Backend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NestJS + TypeScript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REST APIs + JWT Authentication</a:t>
            </a:r>
          </a:p>
        </p:txBody>
      </p:sp>
      <p:sp>
        <p:nvSpPr>
          <p:cNvPr id="123" name="Rounded Rectangle 6"/>
          <p:cNvSpPr/>
          <p:nvPr/>
        </p:nvSpPr>
        <p:spPr>
          <a:xfrm>
            <a:off x="8046719" y="1280160"/>
            <a:ext cx="3474721" cy="15087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7"/>
          <p:cNvSpPr txBox="1"/>
          <p:nvPr/>
        </p:nvSpPr>
        <p:spPr>
          <a:xfrm>
            <a:off x="8275319" y="1417319"/>
            <a:ext cx="1956282" cy="852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Database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PostgreSQL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Structured relational data</a:t>
            </a:r>
          </a:p>
        </p:txBody>
      </p:sp>
      <p:sp>
        <p:nvSpPr>
          <p:cNvPr id="125" name="Rounded Rectangle 8"/>
          <p:cNvSpPr/>
          <p:nvPr/>
        </p:nvSpPr>
        <p:spPr>
          <a:xfrm>
            <a:off x="602108" y="3271361"/>
            <a:ext cx="10515601" cy="141732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9"/>
          <p:cNvSpPr txBox="1"/>
          <p:nvPr/>
        </p:nvSpPr>
        <p:spPr>
          <a:xfrm>
            <a:off x="1051559" y="3474720"/>
            <a:ext cx="9857704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Why TypeScript?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Using TypeScript on both frontend and backend reduces context switching and makes the project easier for a student team to maintain.</a:t>
            </a:r>
          </a:p>
        </p:txBody>
      </p:sp>
      <p:sp>
        <p:nvSpPr>
          <p:cNvPr id="127" name="TextBox 10"/>
          <p:cNvSpPr txBox="1"/>
          <p:nvPr/>
        </p:nvSpPr>
        <p:spPr>
          <a:xfrm>
            <a:off x="607387" y="5166359"/>
            <a:ext cx="1096452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100"/>
              </a:spcBef>
              <a:defRPr sz="1600">
                <a:solidFill>
                  <a:srgbClr val="F0F2F7"/>
                </a:solidFill>
              </a:defRPr>
            </a:lvl1pPr>
          </a:lstStyle>
          <a:p>
            <a:pPr/>
            <a:r>
              <a:t>Optional later: Redis for caching/rate limiting • WebSockets for real-time features • background jobs • ML recommendation service.</a:t>
            </a:r>
          </a:p>
        </p:txBody>
      </p:sp>
      <p:sp>
        <p:nvSpPr>
          <p:cNvPr id="128" name="TextBox 11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685800" y="320040"/>
            <a:ext cx="4176636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4. High-Level Architecture</a:t>
            </a:r>
          </a:p>
        </p:txBody>
      </p:sp>
      <p:sp>
        <p:nvSpPr>
          <p:cNvPr id="131" name="Rounded Rectangle 2"/>
          <p:cNvSpPr/>
          <p:nvPr/>
        </p:nvSpPr>
        <p:spPr>
          <a:xfrm>
            <a:off x="914400" y="1234439"/>
            <a:ext cx="10241281" cy="594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3"/>
          <p:cNvSpPr txBox="1"/>
          <p:nvPr/>
        </p:nvSpPr>
        <p:spPr>
          <a:xfrm>
            <a:off x="1143000" y="1297327"/>
            <a:ext cx="2219943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USER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Web / Responsive App / PWA</a:t>
            </a:r>
          </a:p>
        </p:txBody>
      </p:sp>
      <p:sp>
        <p:nvSpPr>
          <p:cNvPr id="133" name="Rounded Rectangle 4"/>
          <p:cNvSpPr/>
          <p:nvPr/>
        </p:nvSpPr>
        <p:spPr>
          <a:xfrm>
            <a:off x="914400" y="2084832"/>
            <a:ext cx="10241281" cy="594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5"/>
          <p:cNvSpPr txBox="1"/>
          <p:nvPr/>
        </p:nvSpPr>
        <p:spPr>
          <a:xfrm>
            <a:off x="1104376" y="2095562"/>
            <a:ext cx="1209661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Next.js + React </a:t>
            </a:r>
          </a:p>
        </p:txBody>
      </p:sp>
      <p:sp>
        <p:nvSpPr>
          <p:cNvPr id="135" name="Rounded Rectangle 6"/>
          <p:cNvSpPr/>
          <p:nvPr/>
        </p:nvSpPr>
        <p:spPr>
          <a:xfrm>
            <a:off x="914400" y="2935223"/>
            <a:ext cx="10241281" cy="594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7"/>
          <p:cNvSpPr txBox="1"/>
          <p:nvPr/>
        </p:nvSpPr>
        <p:spPr>
          <a:xfrm>
            <a:off x="1078627" y="2961447"/>
            <a:ext cx="4426643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BACKEND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NestJS API • Auth • Business Logic • Recommendation Logic</a:t>
            </a:r>
          </a:p>
        </p:txBody>
      </p:sp>
      <p:sp>
        <p:nvSpPr>
          <p:cNvPr id="137" name="Rounded Rectangle 8"/>
          <p:cNvSpPr/>
          <p:nvPr/>
        </p:nvSpPr>
        <p:spPr>
          <a:xfrm>
            <a:off x="914400" y="3785615"/>
            <a:ext cx="10241281" cy="594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9"/>
          <p:cNvSpPr txBox="1"/>
          <p:nvPr/>
        </p:nvSpPr>
        <p:spPr>
          <a:xfrm>
            <a:off x="1117250" y="3851814"/>
            <a:ext cx="1081273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DATABASE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PostgreSQL </a:t>
            </a:r>
          </a:p>
        </p:txBody>
      </p:sp>
      <p:sp>
        <p:nvSpPr>
          <p:cNvPr id="139" name="Rounded Rectangle 10"/>
          <p:cNvSpPr/>
          <p:nvPr/>
        </p:nvSpPr>
        <p:spPr>
          <a:xfrm>
            <a:off x="914400" y="4636008"/>
            <a:ext cx="10241281" cy="5943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11"/>
          <p:cNvSpPr txBox="1"/>
          <p:nvPr/>
        </p:nvSpPr>
        <p:spPr>
          <a:xfrm>
            <a:off x="1084212" y="4662231"/>
            <a:ext cx="3379811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EXTERNAL SERVICES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TMDB • News API • YouTube API • Email/OTP</a:t>
            </a:r>
          </a:p>
        </p:txBody>
      </p:sp>
      <p:sp>
        <p:nvSpPr>
          <p:cNvPr id="141" name="TextBox 12"/>
          <p:cNvSpPr txBox="1"/>
          <p:nvPr/>
        </p:nvSpPr>
        <p:spPr>
          <a:xfrm>
            <a:off x="868679" y="5623559"/>
            <a:ext cx="9042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100"/>
              </a:spcBef>
              <a:defRPr sz="1500">
                <a:solidFill>
                  <a:srgbClr val="F0F2F7"/>
                </a:solidFill>
              </a:defRPr>
            </a:lvl1pPr>
          </a:lstStyle>
          <a:p>
            <a:pPr/>
            <a:r>
              <a:t>Important: sensitive external API calls should go through the backend so secret keys are not exposed in the browser.</a:t>
            </a:r>
          </a:p>
        </p:txBody>
      </p:sp>
      <p:sp>
        <p:nvSpPr>
          <p:cNvPr id="142" name="TextBox 13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 txBox="1"/>
          <p:nvPr/>
        </p:nvSpPr>
        <p:spPr>
          <a:xfrm>
            <a:off x="685800" y="320040"/>
            <a:ext cx="398781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5. Main Features &amp; Logic</a:t>
            </a:r>
          </a:p>
        </p:txBody>
      </p:sp>
      <p:sp>
        <p:nvSpPr>
          <p:cNvPr id="145" name="Rounded Rectangle 2"/>
          <p:cNvSpPr/>
          <p:nvPr/>
        </p:nvSpPr>
        <p:spPr>
          <a:xfrm>
            <a:off x="640080" y="1280160"/>
            <a:ext cx="3474721" cy="1691640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3"/>
          <p:cNvSpPr txBox="1"/>
          <p:nvPr/>
        </p:nvSpPr>
        <p:spPr>
          <a:xfrm>
            <a:off x="701310" y="1443068"/>
            <a:ext cx="3352261" cy="108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Structured Reviews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Overall score + aspect-wise ratings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Store individual reviews and aggregate community scores</a:t>
            </a:r>
          </a:p>
        </p:txBody>
      </p:sp>
      <p:sp>
        <p:nvSpPr>
          <p:cNvPr id="147" name="Rounded Rectangle 4"/>
          <p:cNvSpPr/>
          <p:nvPr/>
        </p:nvSpPr>
        <p:spPr>
          <a:xfrm>
            <a:off x="4343400" y="1280160"/>
            <a:ext cx="3474721" cy="1691640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5"/>
          <p:cNvSpPr txBox="1"/>
          <p:nvPr/>
        </p:nvSpPr>
        <p:spPr>
          <a:xfrm>
            <a:off x="4572000" y="1417319"/>
            <a:ext cx="2831985" cy="801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Trending Discussions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Rank using likes + comments + recent activity − age decay</a:t>
            </a:r>
          </a:p>
        </p:txBody>
      </p:sp>
      <p:sp>
        <p:nvSpPr>
          <p:cNvPr id="149" name="Rounded Rectangle 6"/>
          <p:cNvSpPr/>
          <p:nvPr/>
        </p:nvSpPr>
        <p:spPr>
          <a:xfrm>
            <a:off x="8046719" y="1280160"/>
            <a:ext cx="3474721" cy="1691640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7"/>
          <p:cNvSpPr txBox="1"/>
          <p:nvPr/>
        </p:nvSpPr>
        <p:spPr>
          <a:xfrm>
            <a:off x="8107950" y="1417319"/>
            <a:ext cx="3418253" cy="801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Recommendations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Use genres, user ratings, watchlist, watched history, directors and actors</a:t>
            </a:r>
          </a:p>
        </p:txBody>
      </p:sp>
      <p:sp>
        <p:nvSpPr>
          <p:cNvPr id="151" name="Rounded Rectangle 8"/>
          <p:cNvSpPr/>
          <p:nvPr/>
        </p:nvSpPr>
        <p:spPr>
          <a:xfrm>
            <a:off x="822960" y="3703320"/>
            <a:ext cx="10515601" cy="105156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9"/>
          <p:cNvSpPr txBox="1"/>
          <p:nvPr/>
        </p:nvSpPr>
        <p:spPr>
          <a:xfrm>
            <a:off x="1051559" y="3840479"/>
            <a:ext cx="7690159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Core Data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Users • Movies • Reviews • Ratings • Watchlists • Collections • Discussions • Comments • Follows • Likes</a:t>
            </a:r>
          </a:p>
        </p:txBody>
      </p:sp>
      <p:sp>
        <p:nvSpPr>
          <p:cNvPr id="153" name="TextBox 10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 txBox="1"/>
          <p:nvPr/>
        </p:nvSpPr>
        <p:spPr>
          <a:xfrm>
            <a:off x="685800" y="320040"/>
            <a:ext cx="4225377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6. APIs &amp; API-Key Strategy</a:t>
            </a:r>
          </a:p>
        </p:txBody>
      </p:sp>
      <p:sp>
        <p:nvSpPr>
          <p:cNvPr id="156" name="Rounded Rectangle 2"/>
          <p:cNvSpPr/>
          <p:nvPr/>
        </p:nvSpPr>
        <p:spPr>
          <a:xfrm>
            <a:off x="640080" y="1143000"/>
            <a:ext cx="10881360" cy="86868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868678" y="1280160"/>
            <a:ext cx="6228258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TMDB API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Primary movie metadata: search, titles, cast, genres, images and release information.</a:t>
            </a:r>
          </a:p>
        </p:txBody>
      </p:sp>
      <p:sp>
        <p:nvSpPr>
          <p:cNvPr id="158" name="Rounded Rectangle 4"/>
          <p:cNvSpPr/>
          <p:nvPr/>
        </p:nvSpPr>
        <p:spPr>
          <a:xfrm>
            <a:off x="640080" y="2221990"/>
            <a:ext cx="10881360" cy="86868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5"/>
          <p:cNvSpPr txBox="1"/>
          <p:nvPr/>
        </p:nvSpPr>
        <p:spPr>
          <a:xfrm>
            <a:off x="868678" y="2359150"/>
            <a:ext cx="6606256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News / GNews API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Optional: movie announcements and events that can become suggested discussion topics.</a:t>
            </a:r>
          </a:p>
        </p:txBody>
      </p:sp>
      <p:sp>
        <p:nvSpPr>
          <p:cNvPr id="160" name="Rounded Rectangle 6"/>
          <p:cNvSpPr/>
          <p:nvPr/>
        </p:nvSpPr>
        <p:spPr>
          <a:xfrm>
            <a:off x="640080" y="3300984"/>
            <a:ext cx="10881360" cy="86868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916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7"/>
          <p:cNvSpPr txBox="1"/>
          <p:nvPr/>
        </p:nvSpPr>
        <p:spPr>
          <a:xfrm>
            <a:off x="868678" y="3438144"/>
            <a:ext cx="2755949" cy="57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916EFF"/>
                </a:solidFill>
              </a:defRPr>
            </a:pPr>
            <a:r>
              <a:t>YouTube Data API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Optional: official trailers and teasers.</a:t>
            </a:r>
          </a:p>
        </p:txBody>
      </p:sp>
      <p:sp>
        <p:nvSpPr>
          <p:cNvPr id="162" name="Rounded Rectangle 8"/>
          <p:cNvSpPr/>
          <p:nvPr/>
        </p:nvSpPr>
        <p:spPr>
          <a:xfrm>
            <a:off x="640080" y="4379976"/>
            <a:ext cx="10881360" cy="86868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9"/>
          <p:cNvSpPr txBox="1"/>
          <p:nvPr/>
        </p:nvSpPr>
        <p:spPr>
          <a:xfrm>
            <a:off x="868678" y="4517135"/>
            <a:ext cx="5786796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AC4FF"/>
                </a:solidFill>
              </a:defRPr>
            </a:pPr>
            <a:r>
              <a:t>Email / OTP Provider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Resend/SendGrid for email; choose a suitable provider if phone OTP is needed.</a:t>
            </a:r>
          </a:p>
        </p:txBody>
      </p:sp>
      <p:sp>
        <p:nvSpPr>
          <p:cNvPr id="164" name="TextBox 10"/>
          <p:cNvSpPr txBox="1"/>
          <p:nvPr/>
        </p:nvSpPr>
        <p:spPr>
          <a:xfrm>
            <a:off x="465951" y="7195000"/>
            <a:ext cx="418819" cy="27799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spcBef>
                <a:spcPts val="1100"/>
              </a:spcBef>
              <a:defRPr sz="1500">
                <a:solidFill>
                  <a:srgbClr val="F0F2F7"/>
                </a:solidFill>
              </a:defRPr>
            </a:pPr>
          </a:p>
        </p:txBody>
      </p:sp>
      <p:sp>
        <p:nvSpPr>
          <p:cNvPr id="165" name="TextBox 11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 txBox="1"/>
          <p:nvPr/>
        </p:nvSpPr>
        <p:spPr>
          <a:xfrm>
            <a:off x="685800" y="320040"/>
            <a:ext cx="8319453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2F7"/>
                </a:solidFill>
              </a:defRPr>
            </a:lvl1pPr>
          </a:lstStyle>
          <a:p>
            <a:pPr/>
            <a:r>
              <a:t>7. Final Recommendation &amp; Development Approach</a:t>
            </a:r>
          </a:p>
        </p:txBody>
      </p:sp>
      <p:sp>
        <p:nvSpPr>
          <p:cNvPr id="168" name="TextBox 2"/>
          <p:cNvSpPr txBox="1"/>
          <p:nvPr/>
        </p:nvSpPr>
        <p:spPr>
          <a:xfrm>
            <a:off x="868679" y="1234439"/>
            <a:ext cx="10972687" cy="1920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100"/>
              </a:spcBef>
              <a:defRPr>
                <a:solidFill>
                  <a:srgbClr val="F0F2F7"/>
                </a:solidFill>
              </a:defRPr>
            </a:pPr>
            <a:r>
              <a:t>MVP: Next.js frontend, NestJS backend, PostgreSQL, and TMDB as the main external movie-data API.</a:t>
            </a:r>
          </a:p>
          <a:p>
            <a:pPr>
              <a:spcBef>
                <a:spcPts val="1100"/>
              </a:spcBef>
              <a:defRPr>
                <a:solidFill>
                  <a:srgbClr val="F0F2F7"/>
                </a:solidFill>
              </a:defRPr>
            </a:pPr>
            <a:r>
              <a:t>Build in order: Foundation → Movie discovery &amp; profiles → Reviews &amp; collections → Social/discussions → Trending &amp; recommendations → Testing/deployment.</a:t>
            </a:r>
          </a:p>
          <a:p>
            <a:pPr>
              <a:spcBef>
                <a:spcPts val="1100"/>
              </a:spcBef>
              <a:defRPr>
                <a:solidFill>
                  <a:srgbClr val="F0F2F7"/>
                </a:solidFill>
              </a:defRPr>
            </a:pPr>
            <a:r>
              <a:t>We won’t add ML, Redis, WebSockets or complex infrastructure until the core platform works reliably.</a:t>
            </a:r>
          </a:p>
          <a:p>
            <a:pPr>
              <a:spcBef>
                <a:spcPts val="1100"/>
              </a:spcBef>
              <a:defRPr>
                <a:solidFill>
                  <a:srgbClr val="F0F2F7"/>
                </a:solidFill>
              </a:defRPr>
            </a:pPr>
            <a:r>
              <a:t>Future upgrades: ML recommendations, sentiment analysis, real-time discussions, notifications and caching.</a:t>
            </a:r>
          </a:p>
        </p:txBody>
      </p:sp>
      <p:sp>
        <p:nvSpPr>
          <p:cNvPr id="169" name="Rounded Rectangle 3"/>
          <p:cNvSpPr/>
          <p:nvPr/>
        </p:nvSpPr>
        <p:spPr>
          <a:xfrm>
            <a:off x="777240" y="5166359"/>
            <a:ext cx="10607041" cy="777241"/>
          </a:xfrm>
          <a:prstGeom prst="roundRect">
            <a:avLst>
              <a:gd name="adj" fmla="val 16667"/>
            </a:avLst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4"/>
          <p:cNvSpPr txBox="1"/>
          <p:nvPr/>
        </p:nvSpPr>
        <p:spPr>
          <a:xfrm>
            <a:off x="1005839" y="5303520"/>
            <a:ext cx="10212696" cy="57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4BD29B"/>
                </a:solidFill>
              </a:defRPr>
            </a:pPr>
            <a:r>
              <a:t>Best approach</a:t>
            </a:r>
          </a:p>
          <a:p>
            <a:pPr>
              <a:spcBef>
                <a:spcPts val="400"/>
              </a:spcBef>
              <a:defRPr sz="1400">
                <a:solidFill>
                  <a:srgbClr val="F0F2F7"/>
                </a:solidFill>
              </a:defRPr>
            </a:pPr>
            <a:r>
              <a:t>First build a complete and usable product; then add advanced technologies only when a specific feature or performance need justifies them.</a:t>
            </a:r>
          </a:p>
        </p:txBody>
      </p:sp>
      <p:sp>
        <p:nvSpPr>
          <p:cNvPr id="171" name="TextBox 5"/>
          <p:cNvSpPr txBox="1"/>
          <p:nvPr/>
        </p:nvSpPr>
        <p:spPr>
          <a:xfrm>
            <a:off x="11307211" y="6446520"/>
            <a:ext cx="16850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4BAC8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38" y="426282"/>
            <a:ext cx="12262331" cy="5713032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Home page icon"/>
          <p:cNvSpPr/>
          <p:nvPr/>
        </p:nvSpPr>
        <p:spPr>
          <a:xfrm>
            <a:off x="603482" y="423147"/>
            <a:ext cx="1652177" cy="459570"/>
          </a:xfrm>
          <a:prstGeom prst="rect">
            <a:avLst/>
          </a:prstGeom>
          <a:solidFill>
            <a:srgbClr val="1C2130"/>
          </a:solidFill>
          <a:ln>
            <a:solidFill>
              <a:srgbClr val="4AC4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Home page icon</a:t>
            </a:r>
          </a:p>
        </p:txBody>
      </p:sp>
      <p:sp>
        <p:nvSpPr>
          <p:cNvPr id="175" name="Rectangle"/>
          <p:cNvSpPr/>
          <p:nvPr/>
        </p:nvSpPr>
        <p:spPr>
          <a:xfrm>
            <a:off x="7948970" y="1689743"/>
            <a:ext cx="2957494" cy="4426419"/>
          </a:xfrm>
          <a:prstGeom prst="rect">
            <a:avLst/>
          </a:prstGeom>
          <a:solidFill>
            <a:srgbClr val="1C2130"/>
          </a:solidFill>
          <a:ln>
            <a:solidFill>
              <a:srgbClr val="4BD29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BASIC LAYOUT AND STRUCTURE OF WEBSITE"/>
          <p:cNvSpPr txBox="1"/>
          <p:nvPr/>
        </p:nvSpPr>
        <p:spPr>
          <a:xfrm>
            <a:off x="4874428" y="27634"/>
            <a:ext cx="423088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BASIC LAYOUT AND STRUCTURE OF WEBSITE</a:t>
            </a:r>
          </a:p>
        </p:txBody>
      </p:sp>
      <p:sp>
        <p:nvSpPr>
          <p:cNvPr id="177" name="Posters of the latest releases and popular movies."/>
          <p:cNvSpPr/>
          <p:nvPr/>
        </p:nvSpPr>
        <p:spPr>
          <a:xfrm>
            <a:off x="794570" y="1663761"/>
            <a:ext cx="6540745" cy="441054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Posters of the latest releases and popular movies.</a:t>
            </a:r>
          </a:p>
        </p:txBody>
      </p:sp>
      <p:sp>
        <p:nvSpPr>
          <p:cNvPr id="178" name="Profile"/>
          <p:cNvSpPr/>
          <p:nvPr/>
        </p:nvSpPr>
        <p:spPr>
          <a:xfrm>
            <a:off x="10300387" y="426191"/>
            <a:ext cx="933548" cy="45348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Profile</a:t>
            </a:r>
          </a:p>
        </p:txBody>
      </p:sp>
      <p:sp>
        <p:nvSpPr>
          <p:cNvPr id="179" name="The top right icons include calendar, notifications, collection, search bar, etc."/>
          <p:cNvSpPr txBox="1"/>
          <p:nvPr/>
        </p:nvSpPr>
        <p:spPr>
          <a:xfrm>
            <a:off x="41682" y="6325479"/>
            <a:ext cx="721808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The top right icons include calendar, notifications, collection, search bar, etc.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